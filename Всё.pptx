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6" r:id="rId5"/>
    <p:sldId id="258" r:id="rId6"/>
    <p:sldId id="260" r:id="rId7"/>
    <p:sldId id="265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8493F0-FD1B-F9E5-F62E-F6013631F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EF3E7C0-21D0-8FEC-AE21-6FDC6F139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573731-0EBE-4A25-D553-D65993C1D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91407-CD26-4384-93B1-E8479B3425BF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01F0A3-B6A0-8078-F8FD-534CEB0D2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4A3DF0-440E-23AD-5373-1F6AB534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2850-AFDD-4163-852C-BA54E6A52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500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7EED4B-5EE1-73D2-1A04-E54300076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E98058-D434-59A8-05BF-D23DA68B4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A9A3C3-DD8E-E90B-DD4B-D89FE1B7A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91407-CD26-4384-93B1-E8479B3425BF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AF53C1-E0C7-25F3-00FA-EEF5C4C3E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287C11-874B-CDBD-AA79-087DF9B3D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2850-AFDD-4163-852C-BA54E6A52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0726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DA11B2-CC24-DB6E-1D96-7C50A98A2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BE0826-47C2-E248-C19C-F5537845A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C7C6F5-E090-0225-6C79-4FD2E01D8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91407-CD26-4384-93B1-E8479B3425BF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4928E4-DA79-CDD9-04F7-D151D67DC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433E0B-0BA4-D21C-2E13-0647DB57C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2850-AFDD-4163-852C-BA54E6A52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63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C54DDE-00D9-8EEE-B24B-15A46A398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469489-6790-07B7-A2C9-39E83793A7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89FBD74-4D3E-F032-A1E3-1253A7B595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A2C1F6-AD22-33EC-1C39-9747F0BAA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91407-CD26-4384-93B1-E8479B3425BF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85009A-05B0-CD28-4949-33AECB2DB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340FEE1-F404-93A5-B727-50B90648B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2850-AFDD-4163-852C-BA54E6A52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953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4A0DCA-A8A2-4EE9-074E-59A336854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5D614C-97FF-C499-1ECA-E9526E6E4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3EC16E0-EDFD-72E4-B0E9-0EF0DA2D4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E5D0979-F9BF-33DB-4A18-58B9755E9C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20F015C-2050-FAF8-F41D-03C10C35DB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60E2FA5-3699-6259-EFAB-4BDAD5412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91407-CD26-4384-93B1-E8479B3425BF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45448EA-E2FC-4BA5-9D62-36DD5E0AB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A831B1D-DAD3-688F-CAF9-CADD2E224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2850-AFDD-4163-852C-BA54E6A52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9344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D01C83-BD3C-A654-CB0C-1F1B1040B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550D3DE-7825-4F1E-7D2D-C0E007F61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91407-CD26-4384-93B1-E8479B3425BF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E4ADDA7-8FB1-F322-ECDC-492088AA7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5728D5-36D3-B6C4-EB41-660CE2F1D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2850-AFDD-4163-852C-BA54E6A52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65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06AD8B3-24FB-8516-A534-5C556C96B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91407-CD26-4384-93B1-E8479B3425BF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5A02F62-71B7-1BFD-4C7C-0B883C79A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2E46DDF-B1F8-3E93-E6C1-0A6B9FEA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2850-AFDD-4163-852C-BA54E6A52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3794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A8A081-7C2C-39EB-51C7-E725DE7E5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C6EEFC-C8CD-0EAD-5A1E-817132D97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AA0F590-856C-37CE-1F88-BB6F151144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8EA473-72CF-4136-9151-FAB6E468D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91407-CD26-4384-93B1-E8479B3425BF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136C4AE-45E2-5119-61C8-8EA661D0B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CCE3F2-879A-6E13-E8D0-F00FB9CC2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2850-AFDD-4163-852C-BA54E6A52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071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F2AC7-3C9F-B85E-3BD0-F954174D0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87A8E13-901C-0E3C-460E-AC25B2BED2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92B440D-28FD-7CF6-F4E2-0B5A40B43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63D0900-1238-B155-B6BE-F4C4614AC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91407-CD26-4384-93B1-E8479B3425BF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0ED288-ABC0-1C05-E225-82BAFB519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3803855-DA71-DE50-42BC-C3200179D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2850-AFDD-4163-852C-BA54E6A52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4944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F7702A-98EA-6362-257E-58BB63C07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3471C4A-CBC5-512E-8435-9A01A9190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948D1D-4573-5964-DE6D-176451DB2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91407-CD26-4384-93B1-E8479B3425BF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A1DAE6-2C03-6FE4-9CA6-F200FA7ED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F868DF-B42D-BEEB-BBA0-951610192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2850-AFDD-4163-852C-BA54E6A52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1284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74C2BFD-1F85-BD48-B515-2E3084C091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23B4135-C840-58D7-E060-2197C64FB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037532-1B7B-FD1C-8991-7FF58C0D8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91407-CD26-4384-93B1-E8479B3425BF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8A12E6-F139-58DC-7556-2E98DFB8A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3F0AF0-5A57-8FE2-ABA6-85F341624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2850-AFDD-4163-852C-BA54E6A52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7812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0080D3-7BB7-69C7-5B42-DF83936DE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A7ECD5-9041-E57E-1AE2-334CC330B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DBF180-099C-1A7D-EE1C-0855969E68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91407-CD26-4384-93B1-E8479B3425BF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AB586C-6580-FD06-B210-856742EA9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69255F-7136-3CF2-7992-52AF1DB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C2850-AFDD-4163-852C-BA54E6A52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826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slide" Target="slide8.xml"/><Relationship Id="rId7" Type="http://schemas.openxmlformats.org/officeDocument/2006/relationships/image" Target="../media/image7.jpe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10" Type="http://schemas.openxmlformats.org/officeDocument/2006/relationships/image" Target="../media/image10.png"/><Relationship Id="rId4" Type="http://schemas.openxmlformats.org/officeDocument/2006/relationships/image" Target="../media/image4.jpe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32855F-3F9B-EA7B-E10E-2D31D1300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1E6A8-9AA6-5C51-3C7E-E759D918CC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11500" dirty="0">
                <a:latin typeface="DwarvenStonecraftCyr" pitchFamily="50" charset="0"/>
              </a:rPr>
              <a:t>FOXHOLE</a:t>
            </a:r>
            <a:r>
              <a:rPr lang="en-US" dirty="0"/>
              <a:t> </a:t>
            </a:r>
            <a:br>
              <a:rPr lang="ru-RU" dirty="0"/>
            </a:br>
            <a:r>
              <a:rPr lang="ru-RU" dirty="0">
                <a:latin typeface="Eterna Oldstyle" panose="02000508000000000000" pitchFamily="2" charset="-52"/>
              </a:rPr>
              <a:t>заметки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3A956E-92B6-390F-728C-E35CC2A62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96685" y="4738688"/>
            <a:ext cx="1595315" cy="1655762"/>
          </a:xfrm>
        </p:spPr>
        <p:txBody>
          <a:bodyPr/>
          <a:lstStyle/>
          <a:p>
            <a:r>
              <a:rPr lang="en-US" dirty="0"/>
              <a:t>By </a:t>
            </a:r>
            <a:r>
              <a:rPr lang="en-US" dirty="0" err="1"/>
              <a:t>karpov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479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B43F56-4B11-4043-C8E7-39681E83C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51695"/>
          </a:xfrm>
        </p:spPr>
        <p:txBody>
          <a:bodyPr>
            <a:normAutofit/>
          </a:bodyPr>
          <a:lstStyle/>
          <a:p>
            <a:r>
              <a:rPr lang="ru-RU" sz="4800" dirty="0">
                <a:latin typeface="Arial" panose="020B0604020202020204" pitchFamily="34" charset="0"/>
                <a:cs typeface="Arial" panose="020B0604020202020204" pitchFamily="34" charset="0"/>
              </a:rPr>
              <a:t>Оглавление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F3E9C6-ED33-3FAF-BEAE-B766861E2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923925"/>
            <a:ext cx="10515600" cy="4351338"/>
          </a:xfrm>
        </p:spPr>
        <p:txBody>
          <a:bodyPr/>
          <a:lstStyle/>
          <a:p>
            <a:r>
              <a:rPr lang="ru-RU" dirty="0"/>
              <a:t>1 </a:t>
            </a:r>
            <a:r>
              <a:rPr lang="ru-RU" dirty="0">
                <a:hlinkClick r:id="rId2" action="ppaction://hlinksldjump"/>
              </a:rPr>
              <a:t>Артиллерия</a:t>
            </a:r>
            <a:endParaRPr lang="ru-RU" dirty="0"/>
          </a:p>
          <a:p>
            <a:r>
              <a:rPr lang="ru-RU" dirty="0"/>
              <a:t>2 Броня</a:t>
            </a:r>
          </a:p>
        </p:txBody>
      </p:sp>
    </p:spTree>
    <p:extLst>
      <p:ext uri="{BB962C8B-B14F-4D97-AF65-F5344CB8AC3E}">
        <p14:creationId xmlns:p14="http://schemas.microsoft.com/office/powerpoint/2010/main" val="3723958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700E71B4-58C6-ABBA-1E77-92E20C6042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F6B179-00DC-87CE-6788-70A374374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984" y="0"/>
            <a:ext cx="10515600" cy="1325563"/>
          </a:xfrm>
        </p:spPr>
        <p:txBody>
          <a:bodyPr>
            <a:normAutofit/>
          </a:bodyPr>
          <a:lstStyle/>
          <a:p>
            <a:r>
              <a:rPr lang="ru-RU" sz="7200" dirty="0">
                <a:solidFill>
                  <a:srgbClr val="FFC000"/>
                </a:solidFill>
                <a:latin typeface="DwarvenStonecraftCyr" pitchFamily="50" charset="0"/>
              </a:rPr>
              <a:t>Общее</a:t>
            </a:r>
          </a:p>
        </p:txBody>
      </p:sp>
    </p:spTree>
    <p:extLst>
      <p:ext uri="{BB962C8B-B14F-4D97-AF65-F5344CB8AC3E}">
        <p14:creationId xmlns:p14="http://schemas.microsoft.com/office/powerpoint/2010/main" val="106273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99D4EB-256A-4FFD-4457-536A46F08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2700"/>
            <a:ext cx="5372100" cy="688975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DwarvenStonecraftCyr" pitchFamily="50" charset="0"/>
              </a:rPr>
              <a:t>Оглавление основ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D8D17B-6F01-8D85-0560-890D6A273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 </a:t>
            </a:r>
            <a:r>
              <a:rPr lang="ru-RU" dirty="0"/>
              <a:t>Наборы инвентаря</a:t>
            </a:r>
          </a:p>
          <a:p>
            <a:r>
              <a:rPr lang="ru-RU" dirty="0"/>
              <a:t>2 Субординация</a:t>
            </a:r>
          </a:p>
          <a:p>
            <a:r>
              <a:rPr lang="ru-RU" dirty="0"/>
              <a:t>3 </a:t>
            </a:r>
          </a:p>
        </p:txBody>
      </p:sp>
    </p:spTree>
    <p:extLst>
      <p:ext uri="{BB962C8B-B14F-4D97-AF65-F5344CB8AC3E}">
        <p14:creationId xmlns:p14="http://schemas.microsoft.com/office/powerpoint/2010/main" val="1086434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2E08EEDF-9221-6184-3204-11BD55634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AE70B1-B2D1-F2CA-CA08-AC3DF9145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150" y="2981325"/>
            <a:ext cx="10515600" cy="1325563"/>
          </a:xfrm>
        </p:spPr>
        <p:txBody>
          <a:bodyPr>
            <a:normAutofit/>
          </a:bodyPr>
          <a:lstStyle/>
          <a:p>
            <a:r>
              <a:rPr lang="ru-RU" sz="7200" dirty="0">
                <a:solidFill>
                  <a:schemeClr val="bg1"/>
                </a:solidFill>
                <a:latin typeface="DwarvenStonecraftCyr" pitchFamily="50" charset="0"/>
              </a:rPr>
              <a:t>экспорт металла</a:t>
            </a:r>
          </a:p>
        </p:txBody>
      </p:sp>
    </p:spTree>
    <p:extLst>
      <p:ext uri="{BB962C8B-B14F-4D97-AF65-F5344CB8AC3E}">
        <p14:creationId xmlns:p14="http://schemas.microsoft.com/office/powerpoint/2010/main" val="1920249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375D94-102D-EFE3-10A5-A7022E6FA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50" y="130175"/>
            <a:ext cx="10515600" cy="1325563"/>
          </a:xfrm>
        </p:spPr>
        <p:txBody>
          <a:bodyPr>
            <a:normAutofit/>
          </a:bodyPr>
          <a:lstStyle/>
          <a:p>
            <a:r>
              <a:rPr lang="ru-RU" sz="6600" dirty="0">
                <a:latin typeface="DwarvenStonecraftCyr" pitchFamily="50" charset="0"/>
              </a:rPr>
              <a:t>Оглавление Артиллерии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24D63C-7CBE-E17D-ACCA-523282D1C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400" y="1825625"/>
            <a:ext cx="3473450" cy="4351338"/>
          </a:xfrm>
        </p:spPr>
        <p:txBody>
          <a:bodyPr/>
          <a:lstStyle/>
          <a:p>
            <a:r>
              <a:rPr lang="ru-RU" dirty="0">
                <a:latin typeface="Eterna Oldstyle" panose="02000508000000000000" pitchFamily="2" charset="-52"/>
              </a:rPr>
              <a:t>1 </a:t>
            </a:r>
            <a:r>
              <a:rPr lang="ru-RU" dirty="0">
                <a:latin typeface="Eterna Oldstyle" panose="02000508000000000000" pitchFamily="2" charset="-52"/>
                <a:hlinkClick r:id="rId2" action="ppaction://hlinksldjump"/>
              </a:rPr>
              <a:t>Снаряды</a:t>
            </a:r>
            <a:endParaRPr lang="ru-RU" dirty="0">
              <a:latin typeface="Eterna Oldstyle" panose="02000508000000000000" pitchFamily="2" charset="-52"/>
            </a:endParaRPr>
          </a:p>
          <a:p>
            <a:r>
              <a:rPr lang="ru-RU" dirty="0">
                <a:latin typeface="Eterna Oldstyle" panose="02000508000000000000" pitchFamily="2" charset="-52"/>
              </a:rPr>
              <a:t>2</a:t>
            </a:r>
            <a:r>
              <a:rPr lang="en-US" dirty="0">
                <a:latin typeface="Eterna Oldstyle" panose="02000508000000000000" pitchFamily="2" charset="-52"/>
              </a:rPr>
              <a:t> </a:t>
            </a:r>
            <a:r>
              <a:rPr lang="ru-RU" dirty="0">
                <a:latin typeface="Eterna Oldstyle" panose="02000508000000000000" pitchFamily="2" charset="-52"/>
                <a:hlinkClick r:id="rId3" action="ppaction://hlinksldjump"/>
              </a:rPr>
              <a:t>Полевая</a:t>
            </a:r>
            <a:r>
              <a:rPr lang="en-US" dirty="0">
                <a:latin typeface="Eterna Oldstyle" panose="02000508000000000000" pitchFamily="2" charset="-52"/>
                <a:hlinkClick r:id="rId3" action="ppaction://hlinksldjump"/>
              </a:rPr>
              <a:t>/</a:t>
            </a:r>
            <a:r>
              <a:rPr lang="ru-RU" dirty="0">
                <a:latin typeface="Eterna Oldstyle" panose="02000508000000000000" pitchFamily="2" charset="-52"/>
                <a:hlinkClick r:id="rId3" action="ppaction://hlinksldjump"/>
              </a:rPr>
              <a:t>стационарная</a:t>
            </a:r>
            <a:endParaRPr lang="ru-RU" dirty="0">
              <a:latin typeface="Eterna Oldstyle" panose="02000508000000000000" pitchFamily="2" charset="-52"/>
            </a:endParaRPr>
          </a:p>
          <a:p>
            <a:r>
              <a:rPr lang="ru-RU" dirty="0">
                <a:latin typeface="Eterna Oldstyle" panose="02000508000000000000" pitchFamily="2" charset="-52"/>
              </a:rPr>
              <a:t>3 Реактивная</a:t>
            </a:r>
          </a:p>
          <a:p>
            <a:r>
              <a:rPr lang="ru-RU" dirty="0">
                <a:latin typeface="Eterna Oldstyle" panose="02000508000000000000" pitchFamily="2" charset="-52"/>
              </a:rPr>
              <a:t>4 корабельная</a:t>
            </a:r>
          </a:p>
          <a:p>
            <a:r>
              <a:rPr lang="ru-RU" dirty="0">
                <a:latin typeface="Eterna Oldstyle" panose="02000508000000000000" pitchFamily="2" charset="-52"/>
              </a:rPr>
              <a:t>5 САУ</a:t>
            </a:r>
          </a:p>
          <a:p>
            <a:r>
              <a:rPr lang="ru-RU" dirty="0">
                <a:latin typeface="Eterna Oldstyle" panose="02000508000000000000" pitchFamily="2" charset="-52"/>
              </a:rPr>
              <a:t>6 Бункерная ИИ</a:t>
            </a:r>
          </a:p>
          <a:p>
            <a:r>
              <a:rPr lang="ru-RU" dirty="0">
                <a:latin typeface="Eterna Oldstyle" panose="02000508000000000000" pitchFamily="2" charset="-52"/>
              </a:rPr>
              <a:t>7 </a:t>
            </a:r>
            <a:r>
              <a:rPr lang="en-US" dirty="0" err="1">
                <a:latin typeface="Eterna Oldstyle" panose="02000508000000000000" pitchFamily="2" charset="-52"/>
              </a:rPr>
              <a:t>Stormcannon</a:t>
            </a:r>
            <a:r>
              <a:rPr lang="ru-RU" dirty="0">
                <a:latin typeface="Eterna Oldstyle" panose="02000508000000000000" pitchFamily="2" charset="-52"/>
              </a:rPr>
              <a:t> и </a:t>
            </a:r>
            <a:r>
              <a:rPr lang="en-US" dirty="0">
                <a:latin typeface="Eterna Oldstyle" panose="02000508000000000000" pitchFamily="2" charset="-52"/>
              </a:rPr>
              <a:t>Tempest cannon</a:t>
            </a:r>
            <a:r>
              <a:rPr lang="ru-RU" dirty="0">
                <a:latin typeface="Eterna Oldstyle" panose="02000508000000000000" pitchFamily="2" charset="-52"/>
              </a:rPr>
              <a:t> </a:t>
            </a:r>
            <a:endParaRPr lang="en-US" dirty="0">
              <a:latin typeface="Eterna Oldstyle" panose="02000508000000000000" pitchFamily="2" charset="-52"/>
            </a:endParaRP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A0FFE30E-178B-3FB9-3455-90335CDCC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1797389"/>
            <a:ext cx="2839156" cy="159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6D993462-7AAB-0DEE-C357-1D21B91F2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4950" y="3523136"/>
            <a:ext cx="2787650" cy="154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57B6DC1E-3853-8D1B-7C71-3D809DA37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523136"/>
            <a:ext cx="2839156" cy="1585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7D5692F0-0457-C746-A5EF-00A570416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4950" y="5196681"/>
            <a:ext cx="2787650" cy="1568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4CD2E0C0-36F7-7956-29BA-0EF75913C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600" y="5196681"/>
            <a:ext cx="2737556" cy="153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The Niska-Rycker Mk. IX Skycaller from the front">
            <a:extLst>
              <a:ext uri="{FF2B5EF4-FFF2-40B4-BE49-F238E27FC236}">
                <a16:creationId xmlns:a16="http://schemas.microsoft.com/office/drawing/2014/main" id="{89DF7562-5191-E5F0-8539-16916F2D1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862" y="5196681"/>
            <a:ext cx="2203344" cy="1531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The 120-68 “Koronides” Field Gun in its deployed form">
            <a:extLst>
              <a:ext uri="{FF2B5EF4-FFF2-40B4-BE49-F238E27FC236}">
                <a16:creationId xmlns:a16="http://schemas.microsoft.com/office/drawing/2014/main" id="{2D16A5EF-1E84-FFD1-3236-EAE73B8BC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1550" y="1579650"/>
            <a:ext cx="1803400" cy="1807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1032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FEE967-88E8-51C7-0ACD-5825D112B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0" y="139700"/>
            <a:ext cx="2978150" cy="611188"/>
          </a:xfrm>
        </p:spPr>
        <p:txBody>
          <a:bodyPr>
            <a:noAutofit/>
          </a:bodyPr>
          <a:lstStyle/>
          <a:p>
            <a:r>
              <a:rPr lang="ru-RU" dirty="0">
                <a:latin typeface="DwarvenStonecraftCyr" pitchFamily="50" charset="0"/>
              </a:rPr>
              <a:t>Снаряды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A57F04-CFBD-967E-B41D-DB13FB329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0686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BB4607-0C19-6A34-01BD-DBA4A978E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650" y="0"/>
            <a:ext cx="6927850" cy="914400"/>
          </a:xfrm>
        </p:spPr>
        <p:txBody>
          <a:bodyPr>
            <a:normAutofit/>
          </a:bodyPr>
          <a:lstStyle/>
          <a:p>
            <a:r>
              <a:rPr lang="ru-RU" sz="5400" dirty="0">
                <a:latin typeface="DwarvenStonecraftCyr" pitchFamily="50" charset="0"/>
              </a:rPr>
              <a:t>Полевая Артиллерия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AD4BA4-0521-348C-C89A-17ADF1BB2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131" y="1196975"/>
            <a:ext cx="6334919" cy="2955925"/>
          </a:xfrm>
        </p:spPr>
        <p:txBody>
          <a:bodyPr>
            <a:normAutofit/>
          </a:bodyPr>
          <a:lstStyle/>
          <a:p>
            <a:pPr marL="0" indent="0">
              <a:lnSpc>
                <a:spcPct val="56000"/>
              </a:lnSpc>
              <a:buNone/>
            </a:pPr>
            <a:r>
              <a:rPr lang="ru-RU" sz="2000" dirty="0"/>
              <a:t>Калибр: 120мм</a:t>
            </a:r>
            <a:br>
              <a:rPr lang="ru-RU" sz="2000" dirty="0"/>
            </a:br>
            <a:r>
              <a:rPr lang="ru-RU" sz="2000" dirty="0"/>
              <a:t>Дистанция: 100-250м (разброс </a:t>
            </a:r>
            <a:r>
              <a:rPr lang="en-US" sz="2000" dirty="0"/>
              <a:t>~</a:t>
            </a:r>
            <a:r>
              <a:rPr lang="ru-RU" sz="2000" dirty="0"/>
              <a:t>25м)</a:t>
            </a:r>
          </a:p>
          <a:p>
            <a:pPr marL="0" indent="0">
              <a:lnSpc>
                <a:spcPct val="56000"/>
              </a:lnSpc>
              <a:buNone/>
            </a:pPr>
            <a:r>
              <a:rPr lang="ru-RU" sz="2000" dirty="0"/>
              <a:t>Стоимость:  50 </a:t>
            </a:r>
            <a:r>
              <a:rPr lang="ru-RU" sz="2000" dirty="0" err="1"/>
              <a:t>рматов</a:t>
            </a:r>
            <a:r>
              <a:rPr lang="ru-RU" sz="2000" dirty="0"/>
              <a:t> в гараже </a:t>
            </a:r>
            <a:r>
              <a:rPr lang="en-US" sz="2000" dirty="0"/>
              <a:t>/</a:t>
            </a:r>
            <a:r>
              <a:rPr lang="ru-RU" sz="2000" dirty="0"/>
              <a:t> до 35 на </a:t>
            </a:r>
            <a:r>
              <a:rPr lang="en-US" sz="2000" dirty="0"/>
              <a:t>MPF</a:t>
            </a:r>
            <a:r>
              <a:rPr lang="ru-RU" sz="2000" dirty="0"/>
              <a:t> (525х15).</a:t>
            </a:r>
          </a:p>
          <a:p>
            <a:pPr marL="0" indent="0">
              <a:lnSpc>
                <a:spcPct val="80000"/>
              </a:lnSpc>
              <a:spcBef>
                <a:spcPts val="700"/>
              </a:spcBef>
              <a:buNone/>
            </a:pPr>
            <a:r>
              <a:rPr lang="ru-RU" sz="2000" dirty="0"/>
              <a:t>Экипаж: наводчик; водитель + заряжающий на пушку, споттер на отряд.</a:t>
            </a:r>
          </a:p>
          <a:p>
            <a:pPr marL="0" indent="0">
              <a:lnSpc>
                <a:spcPct val="56000"/>
              </a:lnSpc>
              <a:buNone/>
            </a:pPr>
            <a:r>
              <a:rPr lang="ru-RU" sz="2000" dirty="0"/>
              <a:t>Перезарядка </a:t>
            </a:r>
            <a:r>
              <a:rPr lang="en-US" sz="2000" dirty="0"/>
              <a:t>3.5c + 3c </a:t>
            </a:r>
            <a:r>
              <a:rPr lang="ru-RU" sz="2000" dirty="0"/>
              <a:t>на выстрел</a:t>
            </a:r>
          </a:p>
          <a:p>
            <a:pPr marL="0" indent="0">
              <a:lnSpc>
                <a:spcPct val="56000"/>
              </a:lnSpc>
              <a:buNone/>
            </a:pPr>
            <a:r>
              <a:rPr lang="en-US" sz="2000" dirty="0"/>
              <a:t>HP </a:t>
            </a:r>
            <a:r>
              <a:rPr lang="ru-RU" sz="2000" dirty="0"/>
              <a:t>1000 </a:t>
            </a:r>
            <a:r>
              <a:rPr lang="en-US" sz="2000" dirty="0"/>
              <a:t>disabled </a:t>
            </a:r>
            <a:r>
              <a:rPr lang="ru-RU" sz="2000" dirty="0"/>
              <a:t>50%, лёгкая броня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DC3E18-DD32-300F-7406-ACFFD183B55A}"/>
              </a:ext>
            </a:extLst>
          </p:cNvPr>
          <p:cNvSpPr txBox="1"/>
          <p:nvPr/>
        </p:nvSpPr>
        <p:spPr>
          <a:xfrm>
            <a:off x="247650" y="3822700"/>
            <a:ext cx="894714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Применение:</a:t>
            </a:r>
            <a:br>
              <a:rPr lang="ru-RU" sz="2800" dirty="0"/>
            </a:br>
            <a:r>
              <a:rPr lang="ru-RU" sz="2800" dirty="0"/>
              <a:t>оперативные выезды в 2-5 пушек. </a:t>
            </a:r>
          </a:p>
          <a:p>
            <a:r>
              <a:rPr lang="ru-RU" sz="2800" dirty="0"/>
              <a:t>Кол-во палет с 120мм: 1 на пушку + 0,25*кол-во пушек.</a:t>
            </a:r>
            <a:br>
              <a:rPr lang="ru-RU" sz="2800" dirty="0"/>
            </a:br>
            <a:r>
              <a:rPr lang="ru-RU" sz="2800" dirty="0"/>
              <a:t>Техника: 1 кран на 2 палеты, </a:t>
            </a:r>
            <a:r>
              <a:rPr lang="en-US" sz="2800" dirty="0"/>
              <a:t>float</a:t>
            </a:r>
            <a:r>
              <a:rPr lang="ru-RU" sz="2800" dirty="0" err="1"/>
              <a:t>бэты</a:t>
            </a:r>
            <a:r>
              <a:rPr lang="ru-RU" sz="2800" dirty="0"/>
              <a:t> для дальних перевозок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29632A4-FE0E-D10E-6B27-FB13C2D97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2700" y="4514850"/>
            <a:ext cx="3041650" cy="2192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2816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A204C9-D5F9-3A16-2E87-2AA3651D1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58450" cy="814388"/>
          </a:xfrm>
        </p:spPr>
        <p:txBody>
          <a:bodyPr>
            <a:normAutofit fontScale="90000"/>
          </a:bodyPr>
          <a:lstStyle/>
          <a:p>
            <a:r>
              <a:rPr lang="ru-RU" sz="5400" dirty="0">
                <a:latin typeface="DwarvenStonecraftCyr" pitchFamily="50" charset="0"/>
              </a:rPr>
              <a:t>Стационарная артиллерия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0D9C63-5101-3987-A08B-8655AC465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3500" y="7938"/>
            <a:ext cx="4363560" cy="1072717"/>
          </a:xfrm>
        </p:spPr>
        <p:txBody>
          <a:bodyPr/>
          <a:lstStyle/>
          <a:p>
            <a:r>
              <a:rPr lang="ru-RU" dirty="0"/>
              <a:t>120мм у </a:t>
            </a:r>
            <a:r>
              <a:rPr lang="ru-RU" dirty="0" err="1"/>
              <a:t>Варденов</a:t>
            </a:r>
            <a:endParaRPr lang="ru-RU" dirty="0"/>
          </a:p>
          <a:p>
            <a:r>
              <a:rPr lang="ru-RU" dirty="0"/>
              <a:t>150мм у обеих фракций</a:t>
            </a:r>
          </a:p>
        </p:txBody>
      </p:sp>
      <p:pic>
        <p:nvPicPr>
          <p:cNvPr id="3074" name="Picture 2" descr="A Huber Lariat 120mm in an Trench Emplacement with two Warden soldiers manning it">
            <a:extLst>
              <a:ext uri="{FF2B5EF4-FFF2-40B4-BE49-F238E27FC236}">
                <a16:creationId xmlns:a16="http://schemas.microsoft.com/office/drawing/2014/main" id="{EBBEBC82-CFE1-8E3E-00F8-E34A8A23C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750" y="4022327"/>
            <a:ext cx="3016250" cy="2827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894497-0271-1222-473E-44221CEE4AEE}"/>
              </a:ext>
            </a:extLst>
          </p:cNvPr>
          <p:cNvSpPr txBox="1"/>
          <p:nvPr/>
        </p:nvSpPr>
        <p:spPr>
          <a:xfrm>
            <a:off x="7874000" y="1080655"/>
            <a:ext cx="417306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Huber Lariat 120mm</a:t>
            </a:r>
            <a:endParaRPr lang="ru-RU" sz="2800" b="1" dirty="0"/>
          </a:p>
          <a:p>
            <a:r>
              <a:rPr lang="ru-RU" sz="2800" dirty="0" err="1"/>
              <a:t>Дист</a:t>
            </a:r>
            <a:r>
              <a:rPr lang="ru-RU" sz="2800" dirty="0"/>
              <a:t>.: 100-300 (</a:t>
            </a:r>
            <a:r>
              <a:rPr lang="ru-RU" sz="2800" dirty="0" err="1"/>
              <a:t>разб</a:t>
            </a:r>
            <a:r>
              <a:rPr lang="ru-RU" sz="2800" dirty="0"/>
              <a:t>. </a:t>
            </a:r>
            <a:r>
              <a:rPr lang="en-US" sz="2800" dirty="0"/>
              <a:t>~30</a:t>
            </a:r>
            <a:r>
              <a:rPr lang="ru-RU" sz="2800" dirty="0"/>
              <a:t>)</a:t>
            </a:r>
            <a:endParaRPr lang="en-US" sz="2800" dirty="0"/>
          </a:p>
          <a:p>
            <a:r>
              <a:rPr lang="ru-RU" sz="2800" dirty="0"/>
              <a:t>Цена: 35рматов на ярде</a:t>
            </a:r>
          </a:p>
          <a:p>
            <a:r>
              <a:rPr lang="ru-RU" sz="2800" dirty="0"/>
              <a:t>До 25 </a:t>
            </a:r>
            <a:r>
              <a:rPr lang="en-US" sz="2800" dirty="0"/>
              <a:t>MPF </a:t>
            </a:r>
            <a:r>
              <a:rPr lang="ru-RU" sz="2800" dirty="0"/>
              <a:t>(366х15)</a:t>
            </a:r>
          </a:p>
          <a:p>
            <a:r>
              <a:rPr lang="ru-RU" sz="2800" dirty="0"/>
              <a:t>Экипаж: наводчик, силач(для вращения), споттер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9365E50-36AE-D282-DB53-27D38656DB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080"/>
          <a:stretch>
            <a:fillRect/>
          </a:stretch>
        </p:blipFill>
        <p:spPr>
          <a:xfrm>
            <a:off x="99380" y="1422982"/>
            <a:ext cx="6288720" cy="60022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C2EDAEC-D11B-3525-F77B-79972DE708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080"/>
          <a:stretch>
            <a:fillRect/>
          </a:stretch>
        </p:blipFill>
        <p:spPr>
          <a:xfrm>
            <a:off x="99380" y="2023209"/>
            <a:ext cx="6288720" cy="5824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3E098E-9ABE-E0F3-07E7-31941F732AB7}"/>
              </a:ext>
            </a:extLst>
          </p:cNvPr>
          <p:cNvSpPr txBox="1"/>
          <p:nvPr/>
        </p:nvSpPr>
        <p:spPr>
          <a:xfrm>
            <a:off x="0" y="907267"/>
            <a:ext cx="19832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latin typeface="DwarvenStonecraftCyr" pitchFamily="50" charset="0"/>
              </a:rPr>
              <a:t>Колонисты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80D32F-AA3F-CE5A-26F8-342A546C3A69}"/>
              </a:ext>
            </a:extLst>
          </p:cNvPr>
          <p:cNvSpPr txBox="1"/>
          <p:nvPr/>
        </p:nvSpPr>
        <p:spPr>
          <a:xfrm>
            <a:off x="50800" y="2432050"/>
            <a:ext cx="17235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 err="1">
                <a:latin typeface="DwarvenStonecraftCyr" pitchFamily="50" charset="0"/>
              </a:rPr>
              <a:t>Вардены</a:t>
            </a:r>
            <a:endParaRPr lang="ru-RU" sz="3200" dirty="0">
              <a:latin typeface="DwarvenStonecraftCyr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8F273E-FDD9-CCD4-6AD9-C8150571BCD7}"/>
              </a:ext>
            </a:extLst>
          </p:cNvPr>
          <p:cNvSpPr txBox="1"/>
          <p:nvPr/>
        </p:nvSpPr>
        <p:spPr>
          <a:xfrm>
            <a:off x="1900768" y="1045760"/>
            <a:ext cx="3718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190 </a:t>
            </a:r>
            <a:r>
              <a:rPr lang="ru-RU" dirty="0" err="1"/>
              <a:t>рматов</a:t>
            </a:r>
            <a:r>
              <a:rPr lang="ru-RU" dirty="0"/>
              <a:t> гараж</a:t>
            </a:r>
            <a:r>
              <a:rPr lang="en-US" dirty="0"/>
              <a:t>/</a:t>
            </a:r>
            <a:r>
              <a:rPr lang="ru-RU" dirty="0"/>
              <a:t> до 137 (2046х15)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5F275C-4A9A-C027-8EBF-AB38E677FE23}"/>
              </a:ext>
            </a:extLst>
          </p:cNvPr>
          <p:cNvSpPr txBox="1"/>
          <p:nvPr/>
        </p:nvSpPr>
        <p:spPr>
          <a:xfrm>
            <a:off x="1676400" y="2623436"/>
            <a:ext cx="3665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175 </a:t>
            </a:r>
            <a:r>
              <a:rPr lang="ru-RU" dirty="0" err="1"/>
              <a:t>рматов</a:t>
            </a:r>
            <a:r>
              <a:rPr lang="ru-RU" dirty="0"/>
              <a:t> гараж</a:t>
            </a:r>
            <a:r>
              <a:rPr lang="en-US" dirty="0"/>
              <a:t>/</a:t>
            </a:r>
            <a:r>
              <a:rPr lang="ru-RU" dirty="0"/>
              <a:t>до 125 (1836х15)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799507-E141-D689-F2A7-16CF2B4B55AE}"/>
              </a:ext>
            </a:extLst>
          </p:cNvPr>
          <p:cNvSpPr txBox="1"/>
          <p:nvPr/>
        </p:nvSpPr>
        <p:spPr>
          <a:xfrm>
            <a:off x="50800" y="2992768"/>
            <a:ext cx="56639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Экипаж: наводчик, силач (вращение), споттер на отряд.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2498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20D2DC-62AF-3F7E-2C3D-08CBF632B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Реактивная Артиллерия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D48C8E-7AFF-F965-EEDC-C2ADDBF34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5398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3C1408-BF66-6B2E-EE77-8208AF920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1FFF5F-AF81-BDFE-BFD0-12B352B1A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788227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212</Words>
  <Application>Microsoft Office PowerPoint</Application>
  <PresentationFormat>Широкоэкранный</PresentationFormat>
  <Paragraphs>42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DwarvenStonecraftCyr</vt:lpstr>
      <vt:lpstr>Eterna Oldstyle</vt:lpstr>
      <vt:lpstr>Тема Office</vt:lpstr>
      <vt:lpstr>FOXHOLE  заметки</vt:lpstr>
      <vt:lpstr>Оглавление</vt:lpstr>
      <vt:lpstr>Общее</vt:lpstr>
      <vt:lpstr>Оглавление основ</vt:lpstr>
      <vt:lpstr>экспорт металла</vt:lpstr>
      <vt:lpstr>Оглавление Артиллерии</vt:lpstr>
      <vt:lpstr>Снаряды</vt:lpstr>
      <vt:lpstr>Полевая Артиллерия</vt:lpstr>
      <vt:lpstr>Стационарная артиллерия</vt:lpstr>
      <vt:lpstr>Реактивная Артиллерия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Alexey</dc:creator>
  <cp:lastModifiedBy>Alexey</cp:lastModifiedBy>
  <cp:revision>8</cp:revision>
  <dcterms:created xsi:type="dcterms:W3CDTF">2026-01-30T18:45:57Z</dcterms:created>
  <dcterms:modified xsi:type="dcterms:W3CDTF">2026-01-31T18:00:38Z</dcterms:modified>
</cp:coreProperties>
</file>